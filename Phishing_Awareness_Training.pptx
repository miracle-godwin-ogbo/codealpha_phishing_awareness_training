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7" r:id="rId10"/>
    <p:sldId id="264" r:id="rId11"/>
    <p:sldId id="265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00642D"/>
    <a:srgbClr val="008000"/>
    <a:srgbClr val="FF00FF"/>
    <a:srgbClr val="009999"/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060B81-BE75-4BE1-9D91-65DFB2F2E26C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D9B4FB-2BC0-44FC-99B6-DAE75438B5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997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D9B4FB-2BC0-44FC-99B6-DAE75438B5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848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161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7787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486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598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2484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440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121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105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768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620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01286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9908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702755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772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8592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305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E35E17-5A81-4CD0-A1C6-A42C6A7D6CCB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23035880-997A-456B-8248-51FE91E46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599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alpha-verify-login.com/" TargetMode="External"/><Relationship Id="rId2" Type="http://schemas.openxmlformats.org/officeDocument/2006/relationships/hyperlink" Target="mailto:support@codealpha-security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76240C1-66DF-BE51-6EE6-64E34516922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42241"/>
            <a:ext cx="9566787" cy="6715760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CodeAlpha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Cybersecurity Internship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2: 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🎣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Phishing Awareness Training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Prepared by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i="1" spc="-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Miracle Godwin Ogbo</a:t>
            </a:r>
            <a:br>
              <a:rPr lang="en-US" sz="32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</a:t>
            </a:r>
            <a:br>
              <a:rPr lang="en-US" sz="3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July 2026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2A8C2F49-B7C0-12D2-C569-7E93C8B980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9727" y="4331109"/>
            <a:ext cx="2937044" cy="1784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1093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5AA749-B691-6589-C992-21A22B2A2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Objectives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EEAA16-5654-216C-A945-09E14A271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94503"/>
            <a:ext cx="8596668" cy="4546859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✔ Understand phishing attacks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✔ Identify phishing emails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✔ Recognize fake websites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✔ Understand social engineering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✔ Learn how to stay safe online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4B3C78A0-D5FC-6144-67EA-141D87F83F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9883" y="3907403"/>
            <a:ext cx="2274119" cy="2133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1096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rippl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9839C-17EA-4BD1-5239-39C067C53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835742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Phishing? </a:t>
            </a:r>
            <a:r>
              <a:rPr lang="en-US" dirty="0"/>
              <a:t>🎣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EA3A1E-69B5-4476-2E15-96798FA3D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45343"/>
            <a:ext cx="8596668" cy="459602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Phishing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cyberattack where attackers pretend to be trusted individuals or organizations to trick victims into revealing sensitive information.</a:t>
            </a: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Targets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Usernames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Passwords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Credit card details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Bank account information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Personal data 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F28E6CD-F194-41F9-5F4A-D974DB2F84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3627" y="4458570"/>
            <a:ext cx="2274119" cy="213395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9DEA0D-1453-C3FD-35CC-BA6CAF265EC5}"/>
              </a:ext>
            </a:extLst>
          </p:cNvPr>
          <p:cNvSpPr txBox="1"/>
          <p:nvPr/>
        </p:nvSpPr>
        <p:spPr>
          <a:xfrm>
            <a:off x="3050458" y="3246792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1B34C47-9AAB-4F11-AC9D-405DCFC217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96125">
            <a:off x="3848762" y="2689545"/>
            <a:ext cx="3082235" cy="2575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4618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conveyor dir="l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F8EB3-75E5-530C-A0B2-8690013A1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334298"/>
            <a:ext cx="8596668" cy="1012722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Phishing Works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1214248-2ACF-5FB1-6B05-0827F795EE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229033"/>
            <a:ext cx="8596668" cy="5628968"/>
          </a:xfrm>
        </p:spPr>
        <p:txBody>
          <a:bodyPr>
            <a:noAutofit/>
          </a:bodyPr>
          <a:lstStyle/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>
                <a:solidFill>
                  <a:schemeClr val="bg1"/>
                </a:solidFill>
                <a:highlight>
                  <a:srgbClr val="0000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Attacker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>
                <a:solidFill>
                  <a:schemeClr val="bg1"/>
                </a:solidFill>
                <a:highlight>
                  <a:srgbClr val="0000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Creates fake email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>
                <a:solidFill>
                  <a:schemeClr val="bg1"/>
                </a:solidFill>
                <a:highlight>
                  <a:srgbClr val="0000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Victim clicks link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>
                <a:solidFill>
                  <a:schemeClr val="bg1"/>
                </a:solidFill>
                <a:highlight>
                  <a:srgbClr val="0000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Fake login page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>
                <a:solidFill>
                  <a:schemeClr val="bg1"/>
                </a:solidFill>
                <a:highlight>
                  <a:srgbClr val="0000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Credentials stolen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>
                <a:solidFill>
                  <a:schemeClr val="bg1"/>
                </a:solidFill>
                <a:highlight>
                  <a:srgbClr val="0000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Account compromised</a:t>
            </a:r>
            <a:endParaRPr lang="en-US" sz="500" dirty="0">
              <a:solidFill>
                <a:schemeClr val="bg1"/>
              </a:solidFill>
              <a:highlight>
                <a:srgbClr val="0000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E9467FDC-A39E-66E4-5651-38E8A52B33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4221" y="4724041"/>
            <a:ext cx="2274119" cy="2133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0185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900">
        <p14:glitter pattern="hexagon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37CD8-9051-B9F1-C3A9-1A37D3A08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Phishing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61048-3B49-07B2-B873-092D8B2950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06013"/>
            <a:ext cx="8596668" cy="4635349"/>
          </a:xfrm>
        </p:spPr>
        <p:txBody>
          <a:bodyPr numCol="2">
            <a:normAutofit fontScale="85000" lnSpcReduction="20000"/>
          </a:bodyPr>
          <a:lstStyle/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📧 Email Phishing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Fake emails sent to many users.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🎯 Spear Phishing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Targets one specific person.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👔 Whaling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Targets executives.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📱 Smishing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SMS phishing.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📞 Vishing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Phone call phishing.</a:t>
            </a:r>
          </a:p>
          <a:p>
            <a:pPr marL="0" indent="0">
              <a:buNone/>
            </a:pP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💬 Clone Phishing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Copies legitimate emails.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Very professional.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C933659-1EBF-D5D7-E59B-8704DA242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8555" y="4539765"/>
            <a:ext cx="2274119" cy="2133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770910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37047-81D0-6442-580B-77D7C873C9B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275304"/>
            <a:ext cx="8596313" cy="668594"/>
          </a:xfrm>
        </p:spPr>
        <p:txBody>
          <a:bodyPr/>
          <a:lstStyle/>
          <a:p>
            <a:pPr algn="ctr"/>
            <a:r>
              <a:rPr lang="en-US" dirty="0"/>
              <a:t>📧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Anatomy of a Phishing Email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73C87E3-9A52-8B52-8920-B9C2F089166D}"/>
              </a:ext>
            </a:extLst>
          </p:cNvPr>
          <p:cNvGrpSpPr/>
          <p:nvPr/>
        </p:nvGrpSpPr>
        <p:grpSpPr>
          <a:xfrm>
            <a:off x="304800" y="943898"/>
            <a:ext cx="8465573" cy="5497542"/>
            <a:chOff x="304800" y="943898"/>
            <a:chExt cx="8465573" cy="549754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F3D3185-0013-5E73-C0C0-A3DC597B3A49}"/>
                </a:ext>
              </a:extLst>
            </p:cNvPr>
            <p:cNvSpPr/>
            <p:nvPr/>
          </p:nvSpPr>
          <p:spPr>
            <a:xfrm>
              <a:off x="304800" y="943898"/>
              <a:ext cx="5598160" cy="549754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From: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CodeAlpha</a:t>
              </a:r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Support </a:t>
              </a: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hlinkClick r:id="rId2"/>
                </a:rPr>
                <a:t> support@codealpha-security.com</a:t>
              </a:r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		🔴</a:t>
              </a:r>
            </a:p>
            <a:p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Subject: URGENT: Verify Your Student Portal 	🔴</a:t>
              </a:r>
            </a:p>
            <a:p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Dear Student,		🔴</a:t>
              </a:r>
            </a:p>
            <a:p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As part of our cybersecurity internship verification process,</a:t>
              </a: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all interns are required to verify their student portal before</a:t>
              </a: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their internship account is activated.</a:t>
              </a:r>
            </a:p>
            <a:p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Failure to complete verification within 24 hours may result in:</a:t>
              </a:r>
            </a:p>
            <a:p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• Internship suspension</a:t>
              </a: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• Loss of access to project submissions</a:t>
              </a: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• Removal from the internship portal</a:t>
              </a:r>
            </a:p>
            <a:p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Click the button below to verify your account.</a:t>
              </a:r>
            </a:p>
            <a:p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	</a:t>
              </a:r>
              <a:r>
                <a:rPr lang="en-US" sz="1400" dirty="0">
                  <a:solidFill>
                    <a:schemeClr val="tx1"/>
                  </a:solidFill>
                  <a:highlight>
                    <a:srgbClr val="00FFFF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rPr>
                <a:t>[ VERIFY PORTAL ]</a:t>
              </a:r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		🔴</a:t>
              </a:r>
            </a:p>
            <a:p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hlinkClick r:id="rId3"/>
                </a:rPr>
                <a:t> https://codealpha-verify-login.com</a:t>
              </a:r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		🔴</a:t>
              </a:r>
            </a:p>
            <a:p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Thank you.</a:t>
              </a:r>
            </a:p>
            <a:p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CodeAlpha</a:t>
              </a:r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Student Support Team</a:t>
              </a:r>
              <a:endParaRPr lang="fr-F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6EDD4BB-83D0-D1E5-ACE3-1B7BEAF73F4D}"/>
                </a:ext>
              </a:extLst>
            </p:cNvPr>
            <p:cNvSpPr/>
            <p:nvPr/>
          </p:nvSpPr>
          <p:spPr>
            <a:xfrm>
              <a:off x="5902960" y="1319818"/>
              <a:ext cx="2867413" cy="4385186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highlight>
                    <a:srgbClr val="800000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rPr>
                <a:t>🚩 Warning Signs</a:t>
              </a:r>
            </a:p>
            <a:p>
              <a:pPr algn="ctr"/>
              <a:endParaRPr lang="en-US" dirty="0">
                <a:highlight>
                  <a:srgbClr val="000000"/>
                </a:highlight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dirty="0">
                  <a:highlight>
                    <a:srgbClr val="0000FF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rPr>
                <a:t>❌ Fake sender</a:t>
              </a:r>
            </a:p>
            <a:p>
              <a:pPr algn="ctr"/>
              <a:endParaRPr lang="en-US" dirty="0">
                <a:highlight>
                  <a:srgbClr val="0000FF"/>
                </a:highlight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dirty="0">
                  <a:highlight>
                    <a:srgbClr val="0000FF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rPr>
                <a:t>❌ Urgent subject</a:t>
              </a:r>
            </a:p>
            <a:p>
              <a:pPr algn="ctr"/>
              <a:endParaRPr lang="en-US" dirty="0">
                <a:highlight>
                  <a:srgbClr val="0000FF"/>
                </a:highlight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dirty="0">
                  <a:highlight>
                    <a:srgbClr val="0000FF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rPr>
                <a:t>❌ Generic greeting</a:t>
              </a:r>
            </a:p>
            <a:p>
              <a:pPr algn="ctr"/>
              <a:endParaRPr lang="en-US" dirty="0">
                <a:highlight>
                  <a:srgbClr val="0000FF"/>
                </a:highlight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dirty="0">
                  <a:highlight>
                    <a:srgbClr val="0000FF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rPr>
                <a:t>❌ Immediate action</a:t>
              </a:r>
            </a:p>
            <a:p>
              <a:pPr algn="ctr"/>
              <a:endParaRPr lang="en-US" dirty="0">
                <a:highlight>
                  <a:srgbClr val="0000FF"/>
                </a:highlight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dirty="0">
                  <a:highlight>
                    <a:srgbClr val="0000FF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rPr>
                <a:t>❌ Fake website URL</a:t>
              </a:r>
            </a:p>
            <a:p>
              <a:pPr algn="ctr"/>
              <a:endParaRPr lang="en-US" dirty="0">
                <a:highlight>
                  <a:srgbClr val="000000"/>
                </a:highlight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1167A58-CDCF-86D5-2543-F3032DA442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7458" y="5152104"/>
            <a:ext cx="2486263" cy="156332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D4BE72A-3EF0-D2B3-75EA-05D827D2C6A8}"/>
              </a:ext>
            </a:extLst>
          </p:cNvPr>
          <p:cNvSpPr/>
          <p:nvPr/>
        </p:nvSpPr>
        <p:spPr>
          <a:xfrm>
            <a:off x="304800" y="6441440"/>
            <a:ext cx="8199120" cy="4903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Training Example: This email is fictional and created for awareness only.</a:t>
            </a:r>
          </a:p>
        </p:txBody>
      </p:sp>
    </p:spTree>
    <p:extLst>
      <p:ext uri="{BB962C8B-B14F-4D97-AF65-F5344CB8AC3E}">
        <p14:creationId xmlns:p14="http://schemas.microsoft.com/office/powerpoint/2010/main" val="183206925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170BC03-4976-E944-2504-DAE1BC66E62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96412" y="196645"/>
            <a:ext cx="8596313" cy="550607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Fake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CodeAlpha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Login Page (Phishing Website)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55EAA0-CC15-1F0D-A5FC-A1CB69586E4E}"/>
              </a:ext>
            </a:extLst>
          </p:cNvPr>
          <p:cNvSpPr/>
          <p:nvPr/>
        </p:nvSpPr>
        <p:spPr>
          <a:xfrm>
            <a:off x="511277" y="6171062"/>
            <a:ext cx="8259097" cy="64707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🛡️ Never enter your credentials until you have verified the website URL. 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3DBBE10-8A2C-1BF5-7328-48D74B2E881C}"/>
              </a:ext>
            </a:extLst>
          </p:cNvPr>
          <p:cNvGrpSpPr/>
          <p:nvPr/>
        </p:nvGrpSpPr>
        <p:grpSpPr>
          <a:xfrm>
            <a:off x="256622" y="884899"/>
            <a:ext cx="9136102" cy="5260262"/>
            <a:chOff x="256622" y="884899"/>
            <a:chExt cx="9136102" cy="526026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AD16A6-B969-BAB9-CDFB-BC7907DA2F7D}"/>
                </a:ext>
              </a:extLst>
            </p:cNvPr>
            <p:cNvSpPr/>
            <p:nvPr/>
          </p:nvSpPr>
          <p:spPr>
            <a:xfrm>
              <a:off x="256622" y="1917290"/>
              <a:ext cx="5042965" cy="4227871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88D8F71-26A6-4F17-CC05-90D694F96B38}"/>
                </a:ext>
              </a:extLst>
            </p:cNvPr>
            <p:cNvSpPr/>
            <p:nvPr/>
          </p:nvSpPr>
          <p:spPr>
            <a:xfrm>
              <a:off x="861704" y="1315909"/>
              <a:ext cx="3362632" cy="525552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🔒 codealpha-verify.net/login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A7368D2-68DF-926D-2AC1-8D3C2AFBC658}"/>
                </a:ext>
              </a:extLst>
            </p:cNvPr>
            <p:cNvGrpSpPr/>
            <p:nvPr/>
          </p:nvGrpSpPr>
          <p:grpSpPr>
            <a:xfrm>
              <a:off x="786581" y="3428999"/>
              <a:ext cx="3205316" cy="2539916"/>
              <a:chOff x="1101213" y="3328054"/>
              <a:chExt cx="2617823" cy="1929436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DDCFE6A-EBA2-6089-2DFC-04FB47079F26}"/>
                  </a:ext>
                </a:extLst>
              </p:cNvPr>
              <p:cNvSpPr/>
              <p:nvPr/>
            </p:nvSpPr>
            <p:spPr>
              <a:xfrm>
                <a:off x="1101213" y="3328054"/>
                <a:ext cx="1700980" cy="353961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Email Address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B32821E-4E4F-C325-DE45-250069E4046A}"/>
                  </a:ext>
                </a:extLst>
              </p:cNvPr>
              <p:cNvGrpSpPr/>
              <p:nvPr/>
            </p:nvGrpSpPr>
            <p:grpSpPr>
              <a:xfrm>
                <a:off x="1101213" y="3717819"/>
                <a:ext cx="2617823" cy="1539671"/>
                <a:chOff x="1101213" y="3717819"/>
                <a:chExt cx="2617823" cy="1539671"/>
              </a:xfrm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EF49B30-ADDF-7C88-F428-8F67092B4282}"/>
                    </a:ext>
                  </a:extLst>
                </p:cNvPr>
                <p:cNvSpPr/>
                <p:nvPr/>
              </p:nvSpPr>
              <p:spPr>
                <a:xfrm>
                  <a:off x="1474840" y="3717819"/>
                  <a:ext cx="2222090" cy="276861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3C8E2C5-7C3A-8B25-8F3B-271C65137AEC}"/>
                    </a:ext>
                  </a:extLst>
                </p:cNvPr>
                <p:cNvSpPr/>
                <p:nvPr/>
              </p:nvSpPr>
              <p:spPr>
                <a:xfrm>
                  <a:off x="1101213" y="4091815"/>
                  <a:ext cx="1219200" cy="276861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Password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3FD79A8A-A815-7A2A-5250-FBE1489E1A2D}"/>
                    </a:ext>
                  </a:extLst>
                </p:cNvPr>
                <p:cNvSpPr/>
                <p:nvPr/>
              </p:nvSpPr>
              <p:spPr>
                <a:xfrm>
                  <a:off x="1496946" y="4465811"/>
                  <a:ext cx="2222090" cy="312665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C6057F90-99AE-73D8-3A2D-C18EE9905E63}"/>
                    </a:ext>
                  </a:extLst>
                </p:cNvPr>
                <p:cNvSpPr/>
                <p:nvPr/>
              </p:nvSpPr>
              <p:spPr>
                <a:xfrm>
                  <a:off x="1726648" y="4890997"/>
                  <a:ext cx="1718473" cy="366493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[ Verify Account ] </a:t>
                  </a:r>
                </a:p>
              </p:txBody>
            </p:sp>
          </p:grp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47F6629-F6B8-1445-4510-523BDBDD84D5}"/>
                </a:ext>
              </a:extLst>
            </p:cNvPr>
            <p:cNvSpPr/>
            <p:nvPr/>
          </p:nvSpPr>
          <p:spPr>
            <a:xfrm>
              <a:off x="334297" y="2148769"/>
              <a:ext cx="4965290" cy="12543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CODEALPHA Student Verification Portal</a:t>
              </a:r>
            </a:p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Verify your internship account to continue</a:t>
              </a:r>
              <a:r>
                <a:rPr lang="en-US" dirty="0"/>
                <a:t>.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FC63251-186B-D3E4-377F-8B4D27815064}"/>
                </a:ext>
              </a:extLst>
            </p:cNvPr>
            <p:cNvSpPr/>
            <p:nvPr/>
          </p:nvSpPr>
          <p:spPr>
            <a:xfrm>
              <a:off x="1524000" y="884899"/>
              <a:ext cx="1838632" cy="41219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Fake Browser</a:t>
              </a:r>
            </a:p>
            <a:p>
              <a:pPr algn="ctr"/>
              <a:endParaRPr lang="en-US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37D8E98-F293-2204-A709-3B79501B9DFA}"/>
                </a:ext>
              </a:extLst>
            </p:cNvPr>
            <p:cNvSpPr/>
            <p:nvPr/>
          </p:nvSpPr>
          <p:spPr>
            <a:xfrm>
              <a:off x="5299587" y="1917289"/>
              <a:ext cx="4093137" cy="4227871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200000"/>
                </a:lnSpc>
              </a:pP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🚩 </a:t>
              </a:r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Red Flags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>
                <a:lnSpc>
                  <a:spcPct val="200000"/>
                </a:lnSpc>
              </a:pP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❌ Suspicious domain name</a:t>
              </a:r>
            </a:p>
            <a:p>
              <a:pPr>
                <a:lnSpc>
                  <a:spcPct val="200000"/>
                </a:lnSpc>
              </a:pP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❌ Requests password immediately</a:t>
              </a:r>
            </a:p>
            <a:p>
              <a:pPr>
                <a:lnSpc>
                  <a:spcPct val="200000"/>
                </a:lnSpc>
              </a:pP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❌ Uses urgency to pressure users</a:t>
              </a:r>
            </a:p>
            <a:p>
              <a:pPr>
                <a:lnSpc>
                  <a:spcPct val="200000"/>
                </a:lnSpc>
              </a:pP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❌ Generic login page</a:t>
              </a:r>
            </a:p>
            <a:p>
              <a:pPr>
                <a:lnSpc>
                  <a:spcPct val="200000"/>
                </a:lnSpc>
              </a:pP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❌ Not an official </a:t>
              </a:r>
              <a:r>
                <a:rPr lang="en-US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CodeAlpha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website</a:t>
              </a:r>
            </a:p>
            <a:p>
              <a:pPr algn="ctr"/>
              <a:endParaRPr lang="en-US" dirty="0"/>
            </a:p>
          </p:txBody>
        </p:sp>
      </p:grpSp>
      <p:pic>
        <p:nvPicPr>
          <p:cNvPr id="25" name="Content Placeholder 4">
            <a:extLst>
              <a:ext uri="{FF2B5EF4-FFF2-40B4-BE49-F238E27FC236}">
                <a16:creationId xmlns:a16="http://schemas.microsoft.com/office/drawing/2014/main" id="{009BBCB4-A6E1-57F8-DD78-04D66D6842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9098" y="5338339"/>
            <a:ext cx="2274119" cy="151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471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CE2D7-7247-874E-F61A-6B11B77BDE3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285135"/>
            <a:ext cx="9769098" cy="79641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Spot the Difference: Fake vs. Legitimate Website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949706-79BD-0A05-B52B-99277EEE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3837" y="5270090"/>
            <a:ext cx="1779380" cy="158791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69090C5-550F-BA83-867B-C78BEB134739}"/>
              </a:ext>
            </a:extLst>
          </p:cNvPr>
          <p:cNvSpPr/>
          <p:nvPr/>
        </p:nvSpPr>
        <p:spPr>
          <a:xfrm>
            <a:off x="148784" y="6194323"/>
            <a:ext cx="9818176" cy="663677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🛡️ Key Takeaway: Always verify the  DOMAIN NAME before entering your username or password. Attackers can copy a website's appearance, but they cannot use the company's official domain.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361F373-62E2-C69B-4454-9631D52CED41}"/>
              </a:ext>
            </a:extLst>
          </p:cNvPr>
          <p:cNvGrpSpPr/>
          <p:nvPr/>
        </p:nvGrpSpPr>
        <p:grpSpPr>
          <a:xfrm>
            <a:off x="611838" y="865239"/>
            <a:ext cx="9157261" cy="5329083"/>
            <a:chOff x="611838" y="865239"/>
            <a:chExt cx="9157261" cy="532908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F79C4D3-9669-EFD6-73C0-5C102C6FD513}"/>
                </a:ext>
              </a:extLst>
            </p:cNvPr>
            <p:cNvSpPr/>
            <p:nvPr/>
          </p:nvSpPr>
          <p:spPr>
            <a:xfrm>
              <a:off x="611838" y="865239"/>
              <a:ext cx="3891284" cy="532908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❌ Phishing Website</a:t>
              </a:r>
            </a:p>
            <a:p>
              <a:pPr algn="ctr"/>
              <a:r>
                <a:rPr 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Domain Name:</a:t>
              </a:r>
            </a:p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codealpha-verify.net</a:t>
              </a:r>
            </a:p>
            <a:p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HTTPS</a:t>
              </a:r>
            </a:p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May use HTTPS to appear trustworthy</a:t>
              </a:r>
            </a:p>
            <a:p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Website Design</a:t>
              </a:r>
            </a:p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Similar or copied layout</a:t>
              </a:r>
            </a:p>
            <a:p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 Request </a:t>
              </a:r>
            </a:p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Unexpected request to verify your account  </a:t>
              </a:r>
            </a:p>
            <a:p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Contact Information</a:t>
              </a:r>
            </a:p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Missing, fake, or limited</a:t>
              </a:r>
            </a:p>
            <a:p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Grammar &amp; Spelling </a:t>
              </a:r>
            </a:p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Errors or unusual wording</a:t>
              </a:r>
            </a:p>
            <a:p>
              <a:pPr algn="ctr"/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EFC8D3-F19F-E5FA-37C3-525ED6517699}"/>
                </a:ext>
              </a:extLst>
            </p:cNvPr>
            <p:cNvSpPr/>
            <p:nvPr/>
          </p:nvSpPr>
          <p:spPr>
            <a:xfrm>
              <a:off x="4503123" y="865239"/>
              <a:ext cx="5265976" cy="532908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✅ Legitimate Website</a:t>
              </a:r>
            </a:p>
            <a:p>
              <a:pPr algn="ctr"/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Domain Name:</a:t>
              </a:r>
            </a:p>
            <a:p>
              <a:r>
                <a:rPr lang="en-US" sz="1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codealpha.tech</a:t>
              </a: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HTTPS</a:t>
              </a:r>
            </a:p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May use HTTPS with official company domain</a:t>
              </a:r>
            </a:p>
            <a:p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Website Design</a:t>
              </a:r>
            </a:p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Official branding and consistent design</a:t>
              </a:r>
            </a:p>
            <a:p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 Request</a:t>
              </a:r>
            </a:p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Normal login only when you intentionally visit the website</a:t>
              </a:r>
            </a:p>
            <a:p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Contact Information</a:t>
              </a:r>
            </a:p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Official company contact details</a:t>
              </a:r>
            </a:p>
            <a:p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Grammar &amp; Spelling </a:t>
              </a:r>
            </a:p>
            <a:p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Clear and professional language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34818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D1481-AAED-8130-6AF3-BF39951A5C2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78426" y="216309"/>
            <a:ext cx="8596313" cy="619125"/>
          </a:xfrm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Social Engineering Techniques Used by Attackers</a:t>
            </a:r>
            <a:endParaRPr lang="en-US" sz="28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C51CE26-477E-2169-D606-ABE7F7B499A6}"/>
              </a:ext>
            </a:extLst>
          </p:cNvPr>
          <p:cNvGrpSpPr/>
          <p:nvPr/>
        </p:nvGrpSpPr>
        <p:grpSpPr>
          <a:xfrm>
            <a:off x="678426" y="1002583"/>
            <a:ext cx="9026013" cy="4454320"/>
            <a:chOff x="393289" y="835434"/>
            <a:chExt cx="8703011" cy="432189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CF3C8C9-6006-A315-527B-B9B035CE4D3C}"/>
                </a:ext>
              </a:extLst>
            </p:cNvPr>
            <p:cNvSpPr/>
            <p:nvPr/>
          </p:nvSpPr>
          <p:spPr>
            <a:xfrm>
              <a:off x="393289" y="835435"/>
              <a:ext cx="8703011" cy="4321890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A1A337E-2B8E-07E0-6EA5-AC28CAC95F5B}"/>
                </a:ext>
              </a:extLst>
            </p:cNvPr>
            <p:cNvSpPr/>
            <p:nvPr/>
          </p:nvSpPr>
          <p:spPr>
            <a:xfrm>
              <a:off x="393290" y="835434"/>
              <a:ext cx="4602957" cy="1367145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en-US" sz="2400" dirty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2800" b="1" dirty="0">
                  <a:solidFill>
                    <a:srgbClr val="FF00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🎭 Impersonation</a:t>
              </a:r>
            </a:p>
            <a:p>
              <a:r>
                <a:rPr lang="en-US" sz="2000" dirty="0">
                  <a:solidFill>
                    <a:srgbClr val="FF00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Pretending to be a trusted company or person.</a:t>
              </a:r>
              <a:r>
                <a:rPr lang="en-US" sz="1400" dirty="0">
                  <a:solidFill>
                    <a:srgbClr val="FF00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</a:p>
            <a:p>
              <a:endParaRPr 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FCCF6BF-EE3B-6A72-E5F7-0D9E1BC0B542}"/>
                </a:ext>
              </a:extLst>
            </p:cNvPr>
            <p:cNvSpPr/>
            <p:nvPr/>
          </p:nvSpPr>
          <p:spPr>
            <a:xfrm>
              <a:off x="412956" y="2202579"/>
              <a:ext cx="4573462" cy="146485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🎁 </a:t>
              </a:r>
              <a:r>
                <a:rPr lang="en-US" sz="2800" b="1" dirty="0">
                  <a:solidFill>
                    <a:srgbClr val="FF99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Baiting</a:t>
              </a:r>
            </a:p>
            <a:p>
              <a:r>
                <a:rPr lang="en-US" sz="2000" dirty="0">
                  <a:solidFill>
                    <a:srgbClr val="FF99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Offers fake rewards, gifts, internship with monthly, payment or job opportunities.</a:t>
              </a:r>
            </a:p>
            <a:p>
              <a:endParaRPr lang="en-US" sz="1050" dirty="0">
                <a:solidFill>
                  <a:srgbClr val="FF99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ACF4FD7-A65C-3270-E57C-05FADDEEAC7C}"/>
                </a:ext>
              </a:extLst>
            </p:cNvPr>
            <p:cNvSpPr/>
            <p:nvPr/>
          </p:nvSpPr>
          <p:spPr>
            <a:xfrm>
              <a:off x="393289" y="3667432"/>
              <a:ext cx="4602957" cy="1474839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🤝 </a:t>
              </a:r>
              <a:r>
                <a:rPr lang="en-US" sz="2800" b="1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Trust </a:t>
              </a:r>
            </a:p>
            <a:p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Uses familiar brands like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CodeAlpha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banks, Google. </a:t>
              </a:r>
            </a:p>
            <a:p>
              <a:endPara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C95D2B6-F1AF-BDB3-AC5F-B1E5763C71E8}"/>
                </a:ext>
              </a:extLst>
            </p:cNvPr>
            <p:cNvSpPr/>
            <p:nvPr/>
          </p:nvSpPr>
          <p:spPr>
            <a:xfrm>
              <a:off x="5006085" y="835434"/>
              <a:ext cx="4080380" cy="1367145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🚨 </a:t>
              </a:r>
              <a:r>
                <a:rPr lang="en-US" sz="2800" b="1" dirty="0">
                  <a:solidFill>
                    <a:srgbClr val="C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Urgency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"Verify within 24 hours!"  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Pressures victims to act fast. 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195F250-CE66-1874-F7A8-7CB5F6251E5A}"/>
                </a:ext>
              </a:extLst>
            </p:cNvPr>
            <p:cNvSpPr/>
            <p:nvPr/>
          </p:nvSpPr>
          <p:spPr>
            <a:xfrm>
              <a:off x="5006081" y="2207646"/>
              <a:ext cx="4090219" cy="1474839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😨 </a:t>
              </a:r>
              <a:r>
                <a:rPr lang="en-US" sz="2800" b="1" dirty="0">
                  <a:solidFill>
                    <a:srgbClr val="00B0F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Fear </a:t>
              </a:r>
            </a:p>
            <a:p>
              <a:r>
                <a:rPr lang="en-US" sz="2000" dirty="0">
                  <a:solidFill>
                    <a:srgbClr val="00B0F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Threatens account suspension or data loss. 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B930232-14DC-6443-611C-ECBD9C165101}"/>
                </a:ext>
              </a:extLst>
            </p:cNvPr>
            <p:cNvSpPr/>
            <p:nvPr/>
          </p:nvSpPr>
          <p:spPr>
            <a:xfrm>
              <a:off x="4996246" y="3682485"/>
              <a:ext cx="4090219" cy="1474839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🔒 </a:t>
              </a:r>
              <a:r>
                <a:rPr lang="en-US" sz="2800" b="1" dirty="0">
                  <a:solidFill>
                    <a:srgbClr val="00999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Authority</a:t>
              </a:r>
            </a:p>
            <a:p>
              <a:r>
                <a:rPr lang="en-US" sz="2000" dirty="0">
                  <a:solidFill>
                    <a:srgbClr val="00999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Pretends to be IT support, HR, or company management</a:t>
              </a:r>
              <a:r>
                <a:rPr lang="en-US" sz="900" dirty="0">
                  <a:solidFill>
                    <a:srgbClr val="00999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</a:p>
            <a:p>
              <a:pPr algn="ctr"/>
              <a:endParaRPr lang="en-US" sz="1600" dirty="0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95262B38-39BD-4FBB-19C3-476205F71B66}"/>
              </a:ext>
            </a:extLst>
          </p:cNvPr>
          <p:cNvSpPr/>
          <p:nvPr/>
        </p:nvSpPr>
        <p:spPr>
          <a:xfrm>
            <a:off x="639096" y="5472416"/>
            <a:ext cx="9026013" cy="1169275"/>
          </a:xfrm>
          <a:prstGeom prst="rect">
            <a:avLst/>
          </a:prstGeom>
          <a:solidFill>
            <a:srgbClr val="008000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🛡️ Key Takeaway Attackers often exploit human emotions rather than technical vulnerabilities. Stay calm, verify requests, and never rush to click suspicious links.</a:t>
            </a:r>
          </a:p>
        </p:txBody>
      </p:sp>
      <p:pic>
        <p:nvPicPr>
          <p:cNvPr id="27" name="Content Placeholder 4">
            <a:extLst>
              <a:ext uri="{FF2B5EF4-FFF2-40B4-BE49-F238E27FC236}">
                <a16:creationId xmlns:a16="http://schemas.microsoft.com/office/drawing/2014/main" id="{69E0D0A3-B254-FE9D-D690-ED832587B5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0245" y="5329084"/>
            <a:ext cx="2073307" cy="144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49042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0F5CB-AA4A-7ACF-2E48-28FB9C79979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82362" y="97759"/>
            <a:ext cx="8596313" cy="846138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 Practices to Prevent Phishing Attacks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B14E42E-DDA7-C7E5-056B-E2224FF992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1111" y="5181600"/>
            <a:ext cx="2274119" cy="1548580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7791560C-F455-8DD4-2D16-5145300E3719}"/>
              </a:ext>
            </a:extLst>
          </p:cNvPr>
          <p:cNvGrpSpPr/>
          <p:nvPr/>
        </p:nvGrpSpPr>
        <p:grpSpPr>
          <a:xfrm>
            <a:off x="324465" y="993057"/>
            <a:ext cx="9054211" cy="4406951"/>
            <a:chOff x="324465" y="993057"/>
            <a:chExt cx="9054211" cy="440695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351988-2A7C-DBF5-4240-FE45C10600BD}"/>
                </a:ext>
              </a:extLst>
            </p:cNvPr>
            <p:cNvSpPr/>
            <p:nvPr/>
          </p:nvSpPr>
          <p:spPr>
            <a:xfrm>
              <a:off x="324466" y="993058"/>
              <a:ext cx="9054210" cy="4406950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1700074-AE5F-0E52-39D8-6FC4D64C7000}"/>
                </a:ext>
              </a:extLst>
            </p:cNvPr>
            <p:cNvSpPr/>
            <p:nvPr/>
          </p:nvSpPr>
          <p:spPr>
            <a:xfrm>
              <a:off x="324465" y="993058"/>
              <a:ext cx="4817806" cy="1465007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🟩 Verify the Sender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Confirm the sender's email address.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ACBF4E4-96AD-7AA1-4C3C-6A0459088282}"/>
                </a:ext>
              </a:extLst>
            </p:cNvPr>
            <p:cNvSpPr/>
            <p:nvPr/>
          </p:nvSpPr>
          <p:spPr>
            <a:xfrm>
              <a:off x="324465" y="3915697"/>
              <a:ext cx="4817806" cy="1465007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🚫 Never Share Passwords 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Legitimate organizations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won't ask via email.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529B6E-3EA9-A0F2-37C9-875CD360F46D}"/>
                </a:ext>
              </a:extLst>
            </p:cNvPr>
            <p:cNvSpPr/>
            <p:nvPr/>
          </p:nvSpPr>
          <p:spPr>
            <a:xfrm>
              <a:off x="324465" y="2450690"/>
              <a:ext cx="4817806" cy="1465007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🔐 Enable MFA   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 an extra security          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layer to your accounts.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DF06939-DFC7-1F9E-C39D-47F1476B571C}"/>
                </a:ext>
              </a:extLst>
            </p:cNvPr>
            <p:cNvSpPr/>
            <p:nvPr/>
          </p:nvSpPr>
          <p:spPr>
            <a:xfrm>
              <a:off x="5142271" y="3935001"/>
              <a:ext cx="4236404" cy="1465007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⚠️ Report Suspicious Emails      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Report phishing emails to your  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IT team or email provider. 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00F4ECC-E9BB-1F9D-E66B-442AF65654DF}"/>
                </a:ext>
              </a:extLst>
            </p:cNvPr>
            <p:cNvSpPr/>
            <p:nvPr/>
          </p:nvSpPr>
          <p:spPr>
            <a:xfrm>
              <a:off x="5142271" y="2458064"/>
              <a:ext cx="4236404" cy="1465007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🔄 Keep Software Updated      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Install updates to fix known    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security vulnerabilities. 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67A328B-0E04-E06B-2004-E5580B638DF5}"/>
                </a:ext>
              </a:extLst>
            </p:cNvPr>
            <p:cNvSpPr/>
            <p:nvPr/>
          </p:nvSpPr>
          <p:spPr>
            <a:xfrm>
              <a:off x="5142271" y="993057"/>
              <a:ext cx="4236404" cy="1465007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🔗 Check Links                   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Hover over links before clicking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and verify the destination.</a:t>
              </a:r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D9E60D62-C8B0-4B2D-753A-F8F6E618D16F}"/>
              </a:ext>
            </a:extLst>
          </p:cNvPr>
          <p:cNvSpPr/>
          <p:nvPr/>
        </p:nvSpPr>
        <p:spPr>
          <a:xfrm>
            <a:off x="782362" y="5651959"/>
            <a:ext cx="7752038" cy="95372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🛡️ Think Before You Click</a:t>
            </a:r>
          </a:p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Always verify emails, links, and websites before entering your credentials.</a:t>
            </a:r>
          </a:p>
        </p:txBody>
      </p:sp>
    </p:spTree>
    <p:extLst>
      <p:ext uri="{BB962C8B-B14F-4D97-AF65-F5344CB8AC3E}">
        <p14:creationId xmlns:p14="http://schemas.microsoft.com/office/powerpoint/2010/main" val="33599356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59CA2-0968-2654-D435-9F8A776975F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74965" y="111760"/>
            <a:ext cx="8596313" cy="637250"/>
          </a:xfrm>
          <a:solidFill>
            <a:srgbClr val="002060"/>
          </a:solidFill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❓ 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Interactive Quiz: Spot the Phishing Signs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76B76D-80C8-BBF5-982D-489D932FE2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0637" y="5293360"/>
            <a:ext cx="2090244" cy="1453863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66DEAFA-4EF7-10BE-635A-3755315A7A88}"/>
              </a:ext>
            </a:extLst>
          </p:cNvPr>
          <p:cNvGrpSpPr/>
          <p:nvPr/>
        </p:nvGrpSpPr>
        <p:grpSpPr>
          <a:xfrm>
            <a:off x="284478" y="853440"/>
            <a:ext cx="9144001" cy="5354319"/>
            <a:chOff x="284479" y="680721"/>
            <a:chExt cx="8961120" cy="528830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17C4AC5-1B53-0443-19A5-28046D25097C}"/>
                </a:ext>
              </a:extLst>
            </p:cNvPr>
            <p:cNvSpPr/>
            <p:nvPr/>
          </p:nvSpPr>
          <p:spPr>
            <a:xfrm>
              <a:off x="284480" y="680721"/>
              <a:ext cx="8961118" cy="5288304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925BBC8-DA3E-AACC-B4AD-EFA1C9FFB443}"/>
                </a:ext>
              </a:extLst>
            </p:cNvPr>
            <p:cNvSpPr/>
            <p:nvPr/>
          </p:nvSpPr>
          <p:spPr>
            <a:xfrm>
              <a:off x="284480" y="680721"/>
              <a:ext cx="8961118" cy="173735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342900" indent="-342900">
                <a:buAutoNum type="arabicPeriod"/>
              </a:pP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Which of the following is a common sign of a phishing email?</a:t>
              </a:r>
            </a:p>
            <a:p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	A. Email from your manager about today's meeting </a:t>
              </a:r>
            </a:p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	B. Urgent request to verify your account immediately </a:t>
              </a:r>
            </a:p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	C. Newsletter you subscribed to </a:t>
              </a:r>
            </a:p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	D. Email from a trusted contact 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CE3E89C-AB49-106A-4703-0335E94B6924}"/>
                </a:ext>
              </a:extLst>
            </p:cNvPr>
            <p:cNvSpPr/>
            <p:nvPr/>
          </p:nvSpPr>
          <p:spPr>
            <a:xfrm>
              <a:off x="284480" y="2418081"/>
              <a:ext cx="8961118" cy="1775472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2.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Before clicking a link, you should: </a:t>
              </a:r>
            </a:p>
            <a:p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	A. Click immediately if it looks familiar </a:t>
              </a:r>
            </a:p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	B. Hover over the link to inspect the destination </a:t>
              </a:r>
            </a:p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	C. Ignore the sender's address</a:t>
              </a:r>
            </a:p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	D. Disable your antivirus 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36661D-E260-1C12-87E9-E0893C6A61E8}"/>
                </a:ext>
              </a:extLst>
            </p:cNvPr>
            <p:cNvSpPr/>
            <p:nvPr/>
          </p:nvSpPr>
          <p:spPr>
            <a:xfrm>
              <a:off x="284479" y="4193553"/>
              <a:ext cx="8961120" cy="177547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 What is the safest action if you suspect an email is phishing?</a:t>
              </a:r>
            </a:p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</a:p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	A. Reply asking if it's real </a:t>
              </a:r>
            </a:p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	B. Enter your password to check </a:t>
              </a:r>
            </a:p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	C. Report the email and delete it </a:t>
              </a:r>
            </a:p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	D. Forward it to everyone </a:t>
              </a: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8A956F72-6E37-6FEE-0381-A874C571BF6E}"/>
              </a:ext>
            </a:extLst>
          </p:cNvPr>
          <p:cNvSpPr/>
          <p:nvPr/>
        </p:nvSpPr>
        <p:spPr>
          <a:xfrm>
            <a:off x="802640" y="6258560"/>
            <a:ext cx="7772400" cy="53848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💡 Pause the video and choose your answers before moving on.</a:t>
            </a:r>
          </a:p>
        </p:txBody>
      </p:sp>
    </p:spTree>
    <p:extLst>
      <p:ext uri="{BB962C8B-B14F-4D97-AF65-F5344CB8AC3E}">
        <p14:creationId xmlns:p14="http://schemas.microsoft.com/office/powerpoint/2010/main" val="400569295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airplane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66F5129-E450-6398-EB40-3D8336862265}"/>
              </a:ext>
            </a:extLst>
          </p:cNvPr>
          <p:cNvSpPr/>
          <p:nvPr/>
        </p:nvSpPr>
        <p:spPr>
          <a:xfrm>
            <a:off x="91440" y="4135119"/>
            <a:ext cx="8688765" cy="256730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🛡️ Remember: </a:t>
            </a:r>
          </a:p>
          <a:p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🧠 Think Before You Click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📧 Verify the Sender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🌐 Check Website URLs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🔐 Enable MFA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🚩 Report Suspicious Emails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6A6BD9-5C54-EE1D-4D58-BC7CFEE86EC3}"/>
              </a:ext>
            </a:extLst>
          </p:cNvPr>
          <p:cNvSpPr/>
          <p:nvPr/>
        </p:nvSpPr>
        <p:spPr>
          <a:xfrm>
            <a:off x="91441" y="1005840"/>
            <a:ext cx="8688765" cy="31292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8C847D-D6BA-B431-D8FA-3D4063E47E3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44320" y="155577"/>
            <a:ext cx="7518400" cy="758823"/>
          </a:xfr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Quiz Answers &amp; Key Takeaways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2D6113-7153-A082-C749-54DAE2CB624E}"/>
              </a:ext>
            </a:extLst>
          </p:cNvPr>
          <p:cNvSpPr/>
          <p:nvPr/>
        </p:nvSpPr>
        <p:spPr>
          <a:xfrm>
            <a:off x="91441" y="914400"/>
            <a:ext cx="8688765" cy="322072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 1: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 ✅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Urgent requests to verify your account are a common phishing tactic. 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 2: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 ✅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Always hover over links to verify the destination before clicking. 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 3: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 ✅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Report suspicious emails and delete them. Never interact with phishing messages. </a:t>
            </a:r>
          </a:p>
        </p:txBody>
      </p:sp>
      <p:pic>
        <p:nvPicPr>
          <p:cNvPr id="16" name="Content Placeholder 4">
            <a:extLst>
              <a:ext uri="{FF2B5EF4-FFF2-40B4-BE49-F238E27FC236}">
                <a16:creationId xmlns:a16="http://schemas.microsoft.com/office/drawing/2014/main" id="{A76519B6-03C8-3EDE-9692-9288336511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165" y="5153842"/>
            <a:ext cx="2274119" cy="154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145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B9F1DFB-CA05-5832-617C-25DDED727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294968"/>
            <a:ext cx="8596668" cy="865239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Watching!</a:t>
            </a: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6E402EE-CADC-2E9C-1A64-346E8DEA7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953729"/>
            <a:ext cx="8596668" cy="4060723"/>
          </a:xfrm>
          <a:solidFill>
            <a:schemeClr val="accent4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Stay Alert. Stay Informed. Stay Secure.</a:t>
            </a: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Have a question or cybersecurity tip to share?</a:t>
            </a:r>
          </a:p>
          <a:p>
            <a:pPr marL="0" indent="0" algn="ctr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Leave it in the comments below.</a:t>
            </a: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Let's learn and grow together!</a:t>
            </a: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Miracle Godwin Ogbo</a:t>
            </a:r>
          </a:p>
          <a:p>
            <a:pPr marL="0" indent="0" algn="ctr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CodeAlpha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Cybersecurity Internship</a:t>
            </a:r>
          </a:p>
          <a:p>
            <a:pPr marL="0" indent="0" algn="ctr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July 2026</a:t>
            </a: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6A20FC-EF80-F580-16C9-0C7BB1ECF9DF}"/>
              </a:ext>
            </a:extLst>
          </p:cNvPr>
          <p:cNvSpPr/>
          <p:nvPr/>
        </p:nvSpPr>
        <p:spPr>
          <a:xfrm>
            <a:off x="1002890" y="5102942"/>
            <a:ext cx="7826478" cy="156332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GitHub: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github.com/Miracle-Godwin-Ogbo</a:t>
            </a: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LinkedIn: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linkedin.com/in/miracle-godwin-ogbo-19a3a2241</a:t>
            </a:r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82AB3C86-391D-4D90-D691-8BB2C88AC9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1111" y="5181600"/>
            <a:ext cx="2274119" cy="154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5175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Face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469</TotalTime>
  <Words>1061</Words>
  <Application>Microsoft Office PowerPoint</Application>
  <PresentationFormat>Widescreen</PresentationFormat>
  <Paragraphs>244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Arial</vt:lpstr>
      <vt:lpstr>Times New Roman</vt:lpstr>
      <vt:lpstr>Trebuchet MS</vt:lpstr>
      <vt:lpstr>Wingdings 3</vt:lpstr>
      <vt:lpstr>Facet</vt:lpstr>
      <vt:lpstr>CodeAlpha Cybersecurity Internship  Task 2:  🎣Phishing Awareness Training   Prepared by Miracle Godwin Ogbo   Date July 2026</vt:lpstr>
      <vt:lpstr>Training Objectives</vt:lpstr>
      <vt:lpstr>What is Phishing? 🎣 </vt:lpstr>
      <vt:lpstr>How Phishing Works</vt:lpstr>
      <vt:lpstr>Types of Phishing</vt:lpstr>
      <vt:lpstr>📧 Anatomy of a Phishing Email</vt:lpstr>
      <vt:lpstr>Fake CodeAlpha Login Page (Phishing Website)</vt:lpstr>
      <vt:lpstr>Spot the Difference: Fake vs. Legitimate Website</vt:lpstr>
      <vt:lpstr>Social Engineering Techniques Used by Attackers</vt:lpstr>
      <vt:lpstr>Best Practices to Prevent Phishing Attacks</vt:lpstr>
      <vt:lpstr>❓ Interactive Quiz: Spot the Phishing Signs</vt:lpstr>
      <vt:lpstr>Quiz Answers &amp; Key Takeaways</vt:lpstr>
      <vt:lpstr>Thank You for Watching!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Miracle Godwin Ogbo</dc:creator>
  <cp:lastModifiedBy>Miracle Godwin Ogbo</cp:lastModifiedBy>
  <cp:revision>4</cp:revision>
  <dcterms:created xsi:type="dcterms:W3CDTF">2026-07-13T13:27:39Z</dcterms:created>
  <dcterms:modified xsi:type="dcterms:W3CDTF">2026-07-13T21:16:53Z</dcterms:modified>
</cp:coreProperties>
</file>