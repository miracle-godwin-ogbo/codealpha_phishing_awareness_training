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4" r:id="rId11"/>
    <p:sldId id="265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642D"/>
    <a:srgbClr val="008000"/>
    <a:srgbClr val="FF00FF"/>
    <a:srgbClr val="0099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60B81-BE75-4BE1-9D91-65DFB2F2E26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9B4FB-2BC0-44FC-99B6-DAE75438B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9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9B4FB-2BC0-44FC-99B6-DAE75438B5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4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6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7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8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9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4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4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0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6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12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90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0275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72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59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0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35E17-5A81-4CD0-A1C6-A42C6A7D6CC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3035880-997A-456B-8248-51FE91E4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alpha-verify-login.com/" TargetMode="External"/><Relationship Id="rId2" Type="http://schemas.openxmlformats.org/officeDocument/2006/relationships/hyperlink" Target="mailto:support@codealpha-security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6240C1-66DF-BE51-6EE6-64E3451692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2241"/>
            <a:ext cx="9566787" cy="671576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CodeAlpha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Internship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🎣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Training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Miracle Godwin Ogbo</a:t>
            </a:r>
            <a:br>
              <a:rPr lang="en-US" sz="3200" i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Tester</a:t>
            </a:r>
            <a:br>
              <a:rPr lang="en-US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2026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A8C2F49-B7C0-12D2-C569-7E93C8B98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727" y="4331109"/>
            <a:ext cx="2937044" cy="178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0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5AA749-B691-6589-C992-21A22B2A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EEAA16-5654-216C-A945-09E14A271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4503"/>
            <a:ext cx="8596668" cy="454685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Understand phishing attacks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Identify phishing emails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Recognize fake websites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Understand social engineering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Learn how to stay safe online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B3C78A0-D5FC-6144-67EA-141D87F83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883" y="3907403"/>
            <a:ext cx="2274119" cy="21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0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839C-17EA-4BD1-5239-39C067C5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574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 </a:t>
            </a:r>
            <a:r>
              <a:rPr lang="en-US" dirty="0"/>
              <a:t>🎣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3A1E-69B5-4476-2E15-96798FA3D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5343"/>
            <a:ext cx="8596668" cy="459602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cyberattack where attackers impersonate trusted individuals or organizations to trick victims into revealing sensitive information, including Personally Identifiable Information (PII) and Sensitive Personally Identifiable Information (SPII).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Targets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details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account information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data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8E6CD-F194-41F9-5F4A-D974DB2F8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627" y="4458570"/>
            <a:ext cx="2274119" cy="2133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9DEA0D-1453-C3FD-35CC-BA6CAF265EC5}"/>
              </a:ext>
            </a:extLst>
          </p:cNvPr>
          <p:cNvSpPr txBox="1"/>
          <p:nvPr/>
        </p:nvSpPr>
        <p:spPr>
          <a:xfrm>
            <a:off x="3050458" y="324679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B34C47-9AAB-4F11-AC9D-405DCFC21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6125">
            <a:off x="4409200" y="2890902"/>
            <a:ext cx="3082235" cy="25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8EB3-75E5-530C-A0B2-8690013A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4298"/>
            <a:ext cx="8596668" cy="101272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Phishing Works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214248-2ACF-5FB1-6B05-0827F795E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9033"/>
            <a:ext cx="8596668" cy="5628968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Attacker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Creates fake email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Victim clicks link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Fake login page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Credentials stolen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Account compromised</a:t>
            </a:r>
            <a:endParaRPr lang="en-US" sz="500" dirty="0">
              <a:solidFill>
                <a:schemeClr val="bg1"/>
              </a:solidFill>
              <a:highlight>
                <a:srgbClr val="0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9467FDC-A39E-66E4-5651-38E8A52B3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221" y="4724041"/>
            <a:ext cx="2274119" cy="21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7CD8-9051-B9F1-C3A9-1A37D3A0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61048-3B49-07B2-B873-092D8B295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8596668" cy="4635349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Email Phishing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sent to many users.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Spear Phishing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one specific person.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👔 Whaling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executives.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Smishing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phishing.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Vishing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 phishing.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Clone Phishing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 legitimate emails.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professional.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33659-1EBF-D5D7-E59B-8704DA242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55" y="4539765"/>
            <a:ext cx="2274119" cy="21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7091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7047-81D0-6442-580B-77D7C873C9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5304"/>
            <a:ext cx="8596313" cy="668594"/>
          </a:xfrm>
        </p:spPr>
        <p:txBody>
          <a:bodyPr/>
          <a:lstStyle/>
          <a:p>
            <a:pPr algn="ctr"/>
            <a:r>
              <a:rPr lang="en-US" dirty="0"/>
              <a:t>📧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Anatomy of a Phishing Email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C87E3-9A52-8B52-8920-B9C2F089166D}"/>
              </a:ext>
            </a:extLst>
          </p:cNvPr>
          <p:cNvGrpSpPr/>
          <p:nvPr/>
        </p:nvGrpSpPr>
        <p:grpSpPr>
          <a:xfrm>
            <a:off x="304800" y="943898"/>
            <a:ext cx="8465573" cy="5497542"/>
            <a:chOff x="304800" y="943898"/>
            <a:chExt cx="8465573" cy="549754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3D3185-0013-5E73-C0C0-A3DC597B3A49}"/>
                </a:ext>
              </a:extLst>
            </p:cNvPr>
            <p:cNvSpPr/>
            <p:nvPr/>
          </p:nvSpPr>
          <p:spPr>
            <a:xfrm>
              <a:off x="304800" y="943898"/>
              <a:ext cx="5598160" cy="549754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From: </a:t>
              </a:r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Support 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2"/>
                </a:rPr>
                <a:t> support@codealpha-security.com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🔴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Subject: URGENT: Verify Your Student Portal 	🔴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Dear Student,		🔴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As part of our cybersecurity internship verification process,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all interns are required to verify their student portal before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their internship account is activated.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Failure to complete verification within 24 hours may result in: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• Internship suspension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• Loss of access to project submissions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• Removal from the internship portal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Click the button below to verify your account.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400" dirty="0">
                  <a:solidFill>
                    <a:schemeClr val="tx1"/>
                  </a:solidFill>
                  <a:highlight>
                    <a:srgbClr val="00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[ VERIFY PORTAL ]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🔴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 https://codealpha-verify-login.com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🔴</a:t>
              </a:r>
            </a:p>
            <a:p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Thank you.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Student Support Team</a:t>
              </a:r>
              <a:endParaRPr lang="fr-F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EDD4BB-83D0-D1E5-ACE3-1B7BEAF73F4D}"/>
                </a:ext>
              </a:extLst>
            </p:cNvPr>
            <p:cNvSpPr/>
            <p:nvPr/>
          </p:nvSpPr>
          <p:spPr>
            <a:xfrm>
              <a:off x="5902960" y="1319818"/>
              <a:ext cx="2867413" cy="438518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highlight>
                    <a:srgbClr val="8000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🚩 Warning Signs</a:t>
              </a:r>
            </a:p>
            <a:p>
              <a:pPr algn="ctr"/>
              <a:endParaRPr lang="en-US" dirty="0"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highlight>
                    <a:srgbClr val="0000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❌ Fake sender</a:t>
              </a:r>
            </a:p>
            <a:p>
              <a:pPr algn="ctr"/>
              <a:endParaRPr lang="en-US" dirty="0"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highlight>
                    <a:srgbClr val="0000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❌ Urgent subject</a:t>
              </a:r>
            </a:p>
            <a:p>
              <a:pPr algn="ctr"/>
              <a:endParaRPr lang="en-US" dirty="0"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highlight>
                    <a:srgbClr val="0000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❌ Generic greeting</a:t>
              </a:r>
            </a:p>
            <a:p>
              <a:pPr algn="ctr"/>
              <a:endParaRPr lang="en-US" dirty="0"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highlight>
                    <a:srgbClr val="0000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❌ Immediate action</a:t>
              </a:r>
            </a:p>
            <a:p>
              <a:pPr algn="ctr"/>
              <a:endParaRPr lang="en-US" dirty="0"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highlight>
                    <a:srgbClr val="0000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❌ Fake website URL</a:t>
              </a:r>
            </a:p>
            <a:p>
              <a:pPr algn="ctr"/>
              <a:endParaRPr lang="en-US" dirty="0"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67A58-CDCF-86D5-2543-F3032DA44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458" y="5152104"/>
            <a:ext cx="2486263" cy="15633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4BE72A-3EF0-D2B3-75EA-05D827D2C6A8}"/>
              </a:ext>
            </a:extLst>
          </p:cNvPr>
          <p:cNvSpPr/>
          <p:nvPr/>
        </p:nvSpPr>
        <p:spPr>
          <a:xfrm>
            <a:off x="304800" y="6441440"/>
            <a:ext cx="8199120" cy="49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Training Example: This email is fictional and created for awareness only.</a:t>
            </a:r>
          </a:p>
        </p:txBody>
      </p:sp>
    </p:spTree>
    <p:extLst>
      <p:ext uri="{BB962C8B-B14F-4D97-AF65-F5344CB8AC3E}">
        <p14:creationId xmlns:p14="http://schemas.microsoft.com/office/powerpoint/2010/main" val="1832069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70BC03-4976-E944-2504-DAE1BC66E6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6412" y="196645"/>
            <a:ext cx="8596313" cy="5506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CodeAlpha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Page (Phishing Website)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55EAA0-CC15-1F0D-A5FC-A1CB69586E4E}"/>
              </a:ext>
            </a:extLst>
          </p:cNvPr>
          <p:cNvSpPr/>
          <p:nvPr/>
        </p:nvSpPr>
        <p:spPr>
          <a:xfrm>
            <a:off x="511277" y="6171062"/>
            <a:ext cx="8259097" cy="647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Never enter your credentials until you have verified the website URL.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DBBE10-8A2C-1BF5-7328-48D74B2E881C}"/>
              </a:ext>
            </a:extLst>
          </p:cNvPr>
          <p:cNvGrpSpPr/>
          <p:nvPr/>
        </p:nvGrpSpPr>
        <p:grpSpPr>
          <a:xfrm>
            <a:off x="256622" y="884899"/>
            <a:ext cx="9136102" cy="5260262"/>
            <a:chOff x="256622" y="884899"/>
            <a:chExt cx="9136102" cy="52602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AD16A6-B969-BAB9-CDFB-BC7907DA2F7D}"/>
                </a:ext>
              </a:extLst>
            </p:cNvPr>
            <p:cNvSpPr/>
            <p:nvPr/>
          </p:nvSpPr>
          <p:spPr>
            <a:xfrm>
              <a:off x="256622" y="1917290"/>
              <a:ext cx="5042965" cy="42278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88D8F71-26A6-4F17-CC05-90D694F96B38}"/>
                </a:ext>
              </a:extLst>
            </p:cNvPr>
            <p:cNvSpPr/>
            <p:nvPr/>
          </p:nvSpPr>
          <p:spPr>
            <a:xfrm>
              <a:off x="861704" y="1315909"/>
              <a:ext cx="3362632" cy="52555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🔒 codealpha-verify.net/login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7368D2-68DF-926D-2AC1-8D3C2AFBC658}"/>
                </a:ext>
              </a:extLst>
            </p:cNvPr>
            <p:cNvGrpSpPr/>
            <p:nvPr/>
          </p:nvGrpSpPr>
          <p:grpSpPr>
            <a:xfrm>
              <a:off x="786581" y="3428999"/>
              <a:ext cx="3205316" cy="2539916"/>
              <a:chOff x="1101213" y="3328054"/>
              <a:chExt cx="2617823" cy="192943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DCFE6A-EBA2-6089-2DFC-04FB47079F26}"/>
                  </a:ext>
                </a:extLst>
              </p:cNvPr>
              <p:cNvSpPr/>
              <p:nvPr/>
            </p:nvSpPr>
            <p:spPr>
              <a:xfrm>
                <a:off x="1101213" y="3328054"/>
                <a:ext cx="1700980" cy="35396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Email Address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B32821E-4E4F-C325-DE45-250069E4046A}"/>
                  </a:ext>
                </a:extLst>
              </p:cNvPr>
              <p:cNvGrpSpPr/>
              <p:nvPr/>
            </p:nvGrpSpPr>
            <p:grpSpPr>
              <a:xfrm>
                <a:off x="1101213" y="3717819"/>
                <a:ext cx="2617823" cy="1539671"/>
                <a:chOff x="1101213" y="3717819"/>
                <a:chExt cx="2617823" cy="1539671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EF49B30-ADDF-7C88-F428-8F67092B4282}"/>
                    </a:ext>
                  </a:extLst>
                </p:cNvPr>
                <p:cNvSpPr/>
                <p:nvPr/>
              </p:nvSpPr>
              <p:spPr>
                <a:xfrm>
                  <a:off x="1474840" y="3717819"/>
                  <a:ext cx="2222090" cy="276861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3C8E2C5-7C3A-8B25-8F3B-271C65137AEC}"/>
                    </a:ext>
                  </a:extLst>
                </p:cNvPr>
                <p:cNvSpPr/>
                <p:nvPr/>
              </p:nvSpPr>
              <p:spPr>
                <a:xfrm>
                  <a:off x="1101213" y="4091815"/>
                  <a:ext cx="1219200" cy="27686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Password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FD79A8A-A815-7A2A-5250-FBE1489E1A2D}"/>
                    </a:ext>
                  </a:extLst>
                </p:cNvPr>
                <p:cNvSpPr/>
                <p:nvPr/>
              </p:nvSpPr>
              <p:spPr>
                <a:xfrm>
                  <a:off x="1496946" y="4465811"/>
                  <a:ext cx="2222090" cy="312665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6057F90-99AE-73D8-3A2D-C18EE9905E63}"/>
                    </a:ext>
                  </a:extLst>
                </p:cNvPr>
                <p:cNvSpPr/>
                <p:nvPr/>
              </p:nvSpPr>
              <p:spPr>
                <a:xfrm>
                  <a:off x="1726648" y="4890997"/>
                  <a:ext cx="1718473" cy="36649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 Verify Account ] </a:t>
                  </a:r>
                </a:p>
              </p:txBody>
            </p:sp>
          </p:grp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7F6629-F6B8-1445-4510-523BDBDD84D5}"/>
                </a:ext>
              </a:extLst>
            </p:cNvPr>
            <p:cNvSpPr/>
            <p:nvPr/>
          </p:nvSpPr>
          <p:spPr>
            <a:xfrm>
              <a:off x="334297" y="2148769"/>
              <a:ext cx="4965290" cy="12543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 Student Verification Portal</a:t>
              </a:r>
            </a:p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Verify your internship account to continue</a:t>
              </a:r>
              <a:r>
                <a:rPr lang="en-US" dirty="0"/>
                <a:t>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C63251-186B-D3E4-377F-8B4D27815064}"/>
                </a:ext>
              </a:extLst>
            </p:cNvPr>
            <p:cNvSpPr/>
            <p:nvPr/>
          </p:nvSpPr>
          <p:spPr>
            <a:xfrm>
              <a:off x="1524000" y="884899"/>
              <a:ext cx="1838632" cy="4121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Fake Browser</a:t>
              </a:r>
            </a:p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37D8E98-F293-2204-A709-3B79501B9DFA}"/>
                </a:ext>
              </a:extLst>
            </p:cNvPr>
            <p:cNvSpPr/>
            <p:nvPr/>
          </p:nvSpPr>
          <p:spPr>
            <a:xfrm>
              <a:off x="5299587" y="1917289"/>
              <a:ext cx="4093137" cy="42278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🚩 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 Flags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Suspicious domain name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Requests password immediately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Uses urgency to pressure users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Generic login page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Not an official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website</a:t>
              </a:r>
            </a:p>
            <a:p>
              <a:pPr algn="ctr"/>
              <a:endParaRPr lang="en-US" dirty="0"/>
            </a:p>
          </p:txBody>
        </p:sp>
      </p:grpSp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009BBCB4-A6E1-57F8-DD78-04D66D68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098" y="5338339"/>
            <a:ext cx="2274119" cy="151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7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E2D7-7247-874E-F61A-6B11B77BDE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5135"/>
            <a:ext cx="9769098" cy="79641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the Difference: Fake vs. Legitimate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949706-79BD-0A05-B52B-99277EEE5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837" y="5270090"/>
            <a:ext cx="1779380" cy="1587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9090C5-550F-BA83-867B-C78BEB134739}"/>
              </a:ext>
            </a:extLst>
          </p:cNvPr>
          <p:cNvSpPr/>
          <p:nvPr/>
        </p:nvSpPr>
        <p:spPr>
          <a:xfrm>
            <a:off x="148784" y="6194323"/>
            <a:ext cx="9818176" cy="66367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Key Takeaway: Always verify the  DOMAIN NAME before entering your username or password. Attackers can copy a website's appearance, but they cannot use the company's official domain.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61F373-62E2-C69B-4454-9631D52CED41}"/>
              </a:ext>
            </a:extLst>
          </p:cNvPr>
          <p:cNvGrpSpPr/>
          <p:nvPr/>
        </p:nvGrpSpPr>
        <p:grpSpPr>
          <a:xfrm>
            <a:off x="611838" y="865239"/>
            <a:ext cx="9157261" cy="5329083"/>
            <a:chOff x="611838" y="865239"/>
            <a:chExt cx="9157261" cy="532908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79C4D3-9669-EFD6-73C0-5C102C6FD513}"/>
                </a:ext>
              </a:extLst>
            </p:cNvPr>
            <p:cNvSpPr/>
            <p:nvPr/>
          </p:nvSpPr>
          <p:spPr>
            <a:xfrm>
              <a:off x="611838" y="865239"/>
              <a:ext cx="3891284" cy="532908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❌ Phishing Website</a:t>
              </a:r>
            </a:p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Domain Name: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codealpha-verify.net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May use HTTPS to appear trustworthy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Website Design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 or copied layout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 Request 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Unexpected request to verify your account  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 Information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Missing, fake, or limited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Grammar &amp; Spelling 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Errors or unusual wording</a:t>
              </a:r>
            </a:p>
            <a:p>
              <a:pPr algn="ctr"/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FC8D3-F19F-E5FA-37C3-525ED6517699}"/>
                </a:ext>
              </a:extLst>
            </p:cNvPr>
            <p:cNvSpPr/>
            <p:nvPr/>
          </p:nvSpPr>
          <p:spPr>
            <a:xfrm>
              <a:off x="4503123" y="865239"/>
              <a:ext cx="5265976" cy="532908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✅ Legitimate Website</a:t>
              </a:r>
            </a:p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Domain Name:</a:t>
              </a:r>
            </a:p>
            <a:p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codealpha.tech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May use HTTPS with official company domain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Website Design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Official branding and consistent design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 Request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login only when you intentionally visit the website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 Information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Official company contact details</a:t>
              </a: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Grammar &amp; Spelling 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Clear and professional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348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1481-AAED-8130-6AF3-BF39951A5C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8426" y="216309"/>
            <a:ext cx="8596313" cy="6191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Techniques Used by Attackers</a:t>
            </a:r>
            <a:endParaRPr lang="en-US" sz="28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C51CE26-477E-2169-D606-ABE7F7B499A6}"/>
              </a:ext>
            </a:extLst>
          </p:cNvPr>
          <p:cNvGrpSpPr/>
          <p:nvPr/>
        </p:nvGrpSpPr>
        <p:grpSpPr>
          <a:xfrm>
            <a:off x="678426" y="1002583"/>
            <a:ext cx="9026013" cy="4454320"/>
            <a:chOff x="393289" y="835434"/>
            <a:chExt cx="8703011" cy="43218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CF3C8C9-6006-A315-527B-B9B035CE4D3C}"/>
                </a:ext>
              </a:extLst>
            </p:cNvPr>
            <p:cNvSpPr/>
            <p:nvPr/>
          </p:nvSpPr>
          <p:spPr>
            <a:xfrm>
              <a:off x="393289" y="835435"/>
              <a:ext cx="8703011" cy="43218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1A337E-2B8E-07E0-6EA5-AC28CAC95F5B}"/>
                </a:ext>
              </a:extLst>
            </p:cNvPr>
            <p:cNvSpPr/>
            <p:nvPr/>
          </p:nvSpPr>
          <p:spPr>
            <a:xfrm>
              <a:off x="393290" y="835434"/>
              <a:ext cx="4602957" cy="1367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🎭 Impersonation</a:t>
              </a:r>
            </a:p>
            <a:p>
              <a:r>
                <a:rPr lang="en-US" sz="20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Pretending to be a trusted company or person.</a:t>
              </a:r>
              <a:r>
                <a:rPr lang="en-US" sz="14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CCF6BF-EE3B-6A72-E5F7-0D9E1BC0B542}"/>
                </a:ext>
              </a:extLst>
            </p:cNvPr>
            <p:cNvSpPr/>
            <p:nvPr/>
          </p:nvSpPr>
          <p:spPr>
            <a:xfrm>
              <a:off x="412956" y="2202579"/>
              <a:ext cx="4573462" cy="146485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🎁 </a:t>
              </a:r>
              <a:r>
                <a:rPr lang="en-US" sz="2800" b="1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Baiting</a:t>
              </a:r>
            </a:p>
            <a:p>
              <a:r>
                <a:rPr lang="en-US" sz="2000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Offers fake rewards, gifts, internship with monthly, payment or job opportunities.</a:t>
              </a:r>
            </a:p>
            <a:p>
              <a:endParaRPr lang="en-US" sz="105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CF4FD7-A65C-3270-E57C-05FADDEEAC7C}"/>
                </a:ext>
              </a:extLst>
            </p:cNvPr>
            <p:cNvSpPr/>
            <p:nvPr/>
          </p:nvSpPr>
          <p:spPr>
            <a:xfrm>
              <a:off x="393289" y="3667432"/>
              <a:ext cx="4602957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🤝 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Trust </a:t>
              </a:r>
            </a:p>
            <a:p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Uses familiar brands like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CodeAlpha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banks, Google. </a:t>
              </a:r>
            </a:p>
            <a:p>
              <a:endPara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95D2B6-F1AF-BDB3-AC5F-B1E5763C71E8}"/>
                </a:ext>
              </a:extLst>
            </p:cNvPr>
            <p:cNvSpPr/>
            <p:nvPr/>
          </p:nvSpPr>
          <p:spPr>
            <a:xfrm>
              <a:off x="5006085" y="835434"/>
              <a:ext cx="4080380" cy="1367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🚨 </a:t>
              </a:r>
              <a:r>
                <a:rPr 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Urgency</a:t>
              </a:r>
            </a:p>
            <a:p>
              <a:r>
                <a:rPr 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"Verify within 24 hours!"  </a:t>
              </a:r>
            </a:p>
            <a:p>
              <a:r>
                <a:rPr 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Pressures victims to act fast. </a:t>
              </a:r>
            </a:p>
            <a:p>
              <a:pPr algn="ctr"/>
              <a:endParaRPr lang="en-US" sz="2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195F250-CE66-1874-F7A8-7CB5F6251E5A}"/>
                </a:ext>
              </a:extLst>
            </p:cNvPr>
            <p:cNvSpPr/>
            <p:nvPr/>
          </p:nvSpPr>
          <p:spPr>
            <a:xfrm>
              <a:off x="5006081" y="2207646"/>
              <a:ext cx="4090219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😨 </a:t>
              </a:r>
              <a:r>
                <a:rPr lang="en-US" sz="28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Fear </a:t>
              </a:r>
            </a:p>
            <a:p>
              <a:r>
                <a:rPr lang="en-US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Threatens account suspension or data loss. </a:t>
              </a:r>
            </a:p>
            <a:p>
              <a:pPr algn="ctr"/>
              <a:endParaRPr lang="en-US" sz="20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930232-14DC-6443-611C-ECBD9C165101}"/>
                </a:ext>
              </a:extLst>
            </p:cNvPr>
            <p:cNvSpPr/>
            <p:nvPr/>
          </p:nvSpPr>
          <p:spPr>
            <a:xfrm>
              <a:off x="4996246" y="3682485"/>
              <a:ext cx="4090219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🔒 </a:t>
              </a:r>
              <a:r>
                <a:rPr lang="en-US" sz="2800" b="1" dirty="0">
                  <a:solidFill>
                    <a:srgbClr val="0099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Authority</a:t>
              </a:r>
            </a:p>
            <a:p>
              <a:r>
                <a:rPr lang="en-US" sz="2000" dirty="0">
                  <a:solidFill>
                    <a:srgbClr val="0099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Pretends to be IT support, HR, or company management</a:t>
              </a:r>
              <a:r>
                <a:rPr lang="en-US" sz="900" dirty="0">
                  <a:solidFill>
                    <a:srgbClr val="0099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ctr"/>
              <a:endParaRPr lang="en-US" sz="1600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5262B38-39BD-4FBB-19C3-476205F71B66}"/>
              </a:ext>
            </a:extLst>
          </p:cNvPr>
          <p:cNvSpPr/>
          <p:nvPr/>
        </p:nvSpPr>
        <p:spPr>
          <a:xfrm>
            <a:off x="639096" y="5472416"/>
            <a:ext cx="9026013" cy="1169275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Key Takeaway Attackers often exploit human emotions rather than technical vulnerabilities. Stay calm, verify requests, and never rush to click suspicious links.</a:t>
            </a:r>
          </a:p>
        </p:txBody>
      </p:sp>
      <p:pic>
        <p:nvPicPr>
          <p:cNvPr id="27" name="Content Placeholder 4">
            <a:extLst>
              <a:ext uri="{FF2B5EF4-FFF2-40B4-BE49-F238E27FC236}">
                <a16:creationId xmlns:a16="http://schemas.microsoft.com/office/drawing/2014/main" id="{69E0D0A3-B254-FE9D-D690-ED832587B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245" y="5329084"/>
            <a:ext cx="2073307" cy="144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904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F5CB-AA4A-7ACF-2E48-28FB9C7997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2362" y="97759"/>
            <a:ext cx="8596313" cy="84613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to Prevent Phishing Attacks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14E42E-DDA7-C7E5-056B-E2224FF99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111" y="5181600"/>
            <a:ext cx="2274119" cy="154858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791560C-F455-8DD4-2D16-5145300E3719}"/>
              </a:ext>
            </a:extLst>
          </p:cNvPr>
          <p:cNvGrpSpPr/>
          <p:nvPr/>
        </p:nvGrpSpPr>
        <p:grpSpPr>
          <a:xfrm>
            <a:off x="324465" y="993057"/>
            <a:ext cx="9054211" cy="4406951"/>
            <a:chOff x="324465" y="993057"/>
            <a:chExt cx="9054211" cy="44069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351988-2A7C-DBF5-4240-FE45C10600BD}"/>
                </a:ext>
              </a:extLst>
            </p:cNvPr>
            <p:cNvSpPr/>
            <p:nvPr/>
          </p:nvSpPr>
          <p:spPr>
            <a:xfrm>
              <a:off x="324466" y="993058"/>
              <a:ext cx="9054210" cy="44069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700074-AE5F-0E52-39D8-6FC4D64C7000}"/>
                </a:ext>
              </a:extLst>
            </p:cNvPr>
            <p:cNvSpPr/>
            <p:nvPr/>
          </p:nvSpPr>
          <p:spPr>
            <a:xfrm>
              <a:off x="324465" y="993058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🟩 Verify the Sender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Confirm the sender's email address.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CBF4E4-96AD-7AA1-4C3C-6A0459088282}"/>
                </a:ext>
              </a:extLst>
            </p:cNvPr>
            <p:cNvSpPr/>
            <p:nvPr/>
          </p:nvSpPr>
          <p:spPr>
            <a:xfrm>
              <a:off x="324465" y="3915697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🚫 Never Share Passwords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Legitimate organizations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won't ask via email.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529B6E-3EA9-A0F2-37C9-875CD360F46D}"/>
                </a:ext>
              </a:extLst>
            </p:cNvPr>
            <p:cNvSpPr/>
            <p:nvPr/>
          </p:nvSpPr>
          <p:spPr>
            <a:xfrm>
              <a:off x="324465" y="2450690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🔐 Enable MFA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an extra security       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to your accounts.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F06939-DFC7-1F9E-C39D-47F1476B571C}"/>
                </a:ext>
              </a:extLst>
            </p:cNvPr>
            <p:cNvSpPr/>
            <p:nvPr/>
          </p:nvSpPr>
          <p:spPr>
            <a:xfrm>
              <a:off x="5142271" y="3935001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⚠️ Report Suspicious Emails   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Report phishing emails to your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team or email provider.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0F4ECC-E9BB-1F9D-E66B-442AF65654DF}"/>
                </a:ext>
              </a:extLst>
            </p:cNvPr>
            <p:cNvSpPr/>
            <p:nvPr/>
          </p:nvSpPr>
          <p:spPr>
            <a:xfrm>
              <a:off x="5142271" y="2458064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🔄 Keep Software Updated   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Install updates to fix known 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security vulnerabilities.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67A328B-0E04-E06B-2004-E5580B638DF5}"/>
                </a:ext>
              </a:extLst>
            </p:cNvPr>
            <p:cNvSpPr/>
            <p:nvPr/>
          </p:nvSpPr>
          <p:spPr>
            <a:xfrm>
              <a:off x="5142271" y="993057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🔗 Check Links                  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Hover over links before clicking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verify the destination.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9E60D62-C8B0-4B2D-753A-F8F6E618D16F}"/>
              </a:ext>
            </a:extLst>
          </p:cNvPr>
          <p:cNvSpPr/>
          <p:nvPr/>
        </p:nvSpPr>
        <p:spPr>
          <a:xfrm>
            <a:off x="782362" y="5651959"/>
            <a:ext cx="7752038" cy="95372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Think Before You Click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verify emails, links, and websites before entering your credentials.</a:t>
            </a:r>
          </a:p>
        </p:txBody>
      </p:sp>
    </p:spTree>
    <p:extLst>
      <p:ext uri="{BB962C8B-B14F-4D97-AF65-F5344CB8AC3E}">
        <p14:creationId xmlns:p14="http://schemas.microsoft.com/office/powerpoint/2010/main" val="335993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9CA2-0968-2654-D435-9F8A776975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4965" y="111760"/>
            <a:ext cx="8596313" cy="63725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❓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Quiz: Spot the Phishing Signs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6B76D-80C8-BBF5-982D-489D932FE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637" y="5293360"/>
            <a:ext cx="2090244" cy="145386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66DEAFA-4EF7-10BE-635A-3755315A7A88}"/>
              </a:ext>
            </a:extLst>
          </p:cNvPr>
          <p:cNvGrpSpPr/>
          <p:nvPr/>
        </p:nvGrpSpPr>
        <p:grpSpPr>
          <a:xfrm>
            <a:off x="284478" y="853440"/>
            <a:ext cx="9144001" cy="5354319"/>
            <a:chOff x="284479" y="680721"/>
            <a:chExt cx="8961120" cy="528830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7C4AC5-1B53-0443-19A5-28046D25097C}"/>
                </a:ext>
              </a:extLst>
            </p:cNvPr>
            <p:cNvSpPr/>
            <p:nvPr/>
          </p:nvSpPr>
          <p:spPr>
            <a:xfrm>
              <a:off x="284480" y="680721"/>
              <a:ext cx="8961118" cy="528830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25BBC8-DA3E-AACC-B4AD-EFA1C9FFB443}"/>
                </a:ext>
              </a:extLst>
            </p:cNvPr>
            <p:cNvSpPr/>
            <p:nvPr/>
          </p:nvSpPr>
          <p:spPr>
            <a:xfrm>
              <a:off x="284480" y="680721"/>
              <a:ext cx="8961118" cy="17373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Which of the following is a common sign of a phishing email?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	A. Email from your manager about today's meeting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B. Urgent request to verify your account immediately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C. Newsletter you subscribed to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	D. Email from a trusted contact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E3E89C-AB49-106A-4703-0335E94B6924}"/>
                </a:ext>
              </a:extLst>
            </p:cNvPr>
            <p:cNvSpPr/>
            <p:nvPr/>
          </p:nvSpPr>
          <p:spPr>
            <a:xfrm>
              <a:off x="284480" y="2418081"/>
              <a:ext cx="8961118" cy="17754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Before clicking a link, you should: 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A. Click immediately if it looks familiar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B. Hover over the link to inspect the destination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C. Ignore the sender's address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D. Disable your antivirus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36661D-E260-1C12-87E9-E0893C6A61E8}"/>
                </a:ext>
              </a:extLst>
            </p:cNvPr>
            <p:cNvSpPr/>
            <p:nvPr/>
          </p:nvSpPr>
          <p:spPr>
            <a:xfrm>
              <a:off x="284479" y="4193553"/>
              <a:ext cx="8961120" cy="177547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What is the safest action if you suspect an email is phishing?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A. Reply asking if it's real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B. Enter your password to check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C. Report the email and delete it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D. Forward it to everyone 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A956F72-6E37-6FEE-0381-A874C571BF6E}"/>
              </a:ext>
            </a:extLst>
          </p:cNvPr>
          <p:cNvSpPr/>
          <p:nvPr/>
        </p:nvSpPr>
        <p:spPr>
          <a:xfrm>
            <a:off x="802640" y="6258560"/>
            <a:ext cx="7772400" cy="5384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Pause the video and choose your answers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40056929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6F5129-E450-6398-EB40-3D8336862265}"/>
              </a:ext>
            </a:extLst>
          </p:cNvPr>
          <p:cNvSpPr/>
          <p:nvPr/>
        </p:nvSpPr>
        <p:spPr>
          <a:xfrm>
            <a:off x="91440" y="4135119"/>
            <a:ext cx="8688765" cy="25673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Remember: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🧠 Think Before You Click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📧 Verify the Sender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🌐 Check Website URLs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🔐 Enable MFA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🚩 Report Suspicious Emails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A6BD9-5C54-EE1D-4D58-BC7CFEE86EC3}"/>
              </a:ext>
            </a:extLst>
          </p:cNvPr>
          <p:cNvSpPr/>
          <p:nvPr/>
        </p:nvSpPr>
        <p:spPr>
          <a:xfrm>
            <a:off x="91441" y="1005840"/>
            <a:ext cx="8688765" cy="3129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8C847D-D6BA-B431-D8FA-3D4063E47E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44320" y="155577"/>
            <a:ext cx="7518400" cy="75882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 Answers &amp; Key Takeaways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2D6113-7153-A082-C749-54DAE2CB624E}"/>
              </a:ext>
            </a:extLst>
          </p:cNvPr>
          <p:cNvSpPr/>
          <p:nvPr/>
        </p:nvSpPr>
        <p:spPr>
          <a:xfrm>
            <a:off x="91441" y="914400"/>
            <a:ext cx="8688765" cy="3220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✅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requests to verify your account are a common phishing tactic.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✅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Always hover over links to verify the destination before clicking.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✅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 and delete them. Never interact with phishing messages. </a:t>
            </a:r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A76519B6-03C8-3EDE-9692-928833651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65" y="5153842"/>
            <a:ext cx="2274119" cy="154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1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9F1DFB-CA05-5832-617C-25DDED72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4968"/>
            <a:ext cx="8596668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Watching!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E402EE-CADC-2E9C-1A64-346E8DEA7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53729"/>
            <a:ext cx="8596668" cy="406072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Alert. Stay Informed. Stay Secure.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question or cybersecurity tip to share?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it in the comments below.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learn and grow together!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Miracle Godwin Ogbo</a:t>
            </a:r>
          </a:p>
          <a:p>
            <a:pPr marL="0" indent="0" algn="ctr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CodeAlpha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Internship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2026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A20FC-EF80-F580-16C9-0C7BB1ECF9DF}"/>
              </a:ext>
            </a:extLst>
          </p:cNvPr>
          <p:cNvSpPr/>
          <p:nvPr/>
        </p:nvSpPr>
        <p:spPr>
          <a:xfrm>
            <a:off x="1002890" y="5102942"/>
            <a:ext cx="7826478" cy="15633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Portfolio: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github.com/Miracle-Godwin-Ogbo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linkedin.com/in/miracle-godwin-ogbo-19a3a2241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2AB3C86-391D-4D90-D691-8BB2C88A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111" y="5181600"/>
            <a:ext cx="2274119" cy="154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1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555</TotalTime>
  <Words>1077</Words>
  <Application>Microsoft Office PowerPoint</Application>
  <PresentationFormat>Widescreen</PresentationFormat>
  <Paragraphs>244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Times New Roman</vt:lpstr>
      <vt:lpstr>Trebuchet MS</vt:lpstr>
      <vt:lpstr>Wingdings 3</vt:lpstr>
      <vt:lpstr>Facet</vt:lpstr>
      <vt:lpstr>CodeAlpha Cybersecurity Internship  Task 2:  🎣Phishing Awareness Training   Prepared by Miracle Godwin Ogbo Penetration Tester  Date July 2026</vt:lpstr>
      <vt:lpstr>Training Objectives</vt:lpstr>
      <vt:lpstr>What is Phishing? 🎣 </vt:lpstr>
      <vt:lpstr>How Phishing Works</vt:lpstr>
      <vt:lpstr>Types of Phishing</vt:lpstr>
      <vt:lpstr>📧 Anatomy of a Phishing Email</vt:lpstr>
      <vt:lpstr>Fake CodeAlpha Login Page (Phishing Website)</vt:lpstr>
      <vt:lpstr>Spot the Difference: Fake vs. Legitimate Website</vt:lpstr>
      <vt:lpstr>Social Engineering Techniques Used by Attackers</vt:lpstr>
      <vt:lpstr>Best Practices to Prevent Phishing Attacks</vt:lpstr>
      <vt:lpstr>❓ Interactive Quiz: Spot the Phishing Signs</vt:lpstr>
      <vt:lpstr>Quiz Answers &amp; Key Takeaways</vt:lpstr>
      <vt:lpstr>Thank You for Watching!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Miracle Godwin Ogbo</dc:creator>
  <cp:lastModifiedBy>Miracle Godwin Ogbo</cp:lastModifiedBy>
  <cp:revision>7</cp:revision>
  <dcterms:created xsi:type="dcterms:W3CDTF">2026-07-13T13:27:39Z</dcterms:created>
  <dcterms:modified xsi:type="dcterms:W3CDTF">2026-07-22T15:48:52Z</dcterms:modified>
</cp:coreProperties>
</file>